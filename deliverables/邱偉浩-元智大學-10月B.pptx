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5DB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中華汽車校園大使</a:t>
            </a:r>
            <a:endParaRPr lang="en-US" sz="2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50876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 B 任務 成果簡報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743200"/>
            <a:ext cx="6766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大使姓名/學校:邱偉浩 / 元智大學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任務月份:10 月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任務形式:B. 趨勢觀察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680960" y="3931920"/>
            <a:ext cx="822960" cy="822960"/>
          </a:xfrm>
          <a:prstGeom prst="ellipse">
            <a:avLst/>
          </a:prstGeom>
          <a:solidFill>
            <a:srgbClr val="C8102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680960" y="393192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趨勢觀察:基本資訊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0972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大使姓名/學校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2697480" y="10972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34640" y="10972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邱偉浩 / 元智大學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17830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任務月份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2697480" y="17830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17830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2468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主題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697480" y="24688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834640" y="24688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畢業生就業趨勢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1546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任務形式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2697480" y="31546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31546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趨勢觀察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697480" y="3840480"/>
            <a:ext cx="5989320" cy="54864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34640" y="384048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Dcard(工作版、科技業版,共 2 篇貼文)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內容分享與說明:觀察主題與方法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觀察主題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畢業生就業趨勢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(任務指引範例之一)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645920"/>
          </a:xfrm>
          <a:prstGeom prst="rect">
            <a:avLst>
              <a:gd name="adj" fmla="val 444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觀察平台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工作版、科技業版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篇貼文,共 454 則留言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看得到的留言都有算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880360"/>
            <a:ext cx="8229600" cy="1920240"/>
          </a:xfrm>
          <a:prstGeom prst="rect">
            <a:avLst>
              <a:gd name="adj" fmla="val 381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0080" y="29900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觀察方式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3410712"/>
            <a:ext cx="78638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挑兩篇貼文:一篇聊新鮮人起薪,一篇聊 AI 對新鮮人的影響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記下愛心、留言數,把看得到的留言一則一則讀,算算起薪落在哪、大家怎麼看 AI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再跟人力銀行公開的資料比一比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內容分享與說明:Dcard 案例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1|#請益 新鮮人起薪都多少(工作版)</a:t>
            </a:r>
            <a:endParaRPr lang="en-US" sz="1400" dirty="0"/>
          </a:p>
        </p:txBody>
      </p:sp>
      <p:pic>
        <p:nvPicPr>
          <p:cNvPr id="6" name="Image 0" descr="img2/post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3291840" cy="1938528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429000"/>
            <a:ext cx="4023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2025/6/3 發文 ・ 愛心 108 ・ 留言 266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剛畢業的人問:大家第一份工作月薪是多少?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最高讚(268 讚):生活品質和健康比什麼都重要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663440" y="9601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2|2026 前後畢業的大學生,是史上最辛苦世代(科技業版)</a:t>
            </a:r>
            <a:endParaRPr lang="en-US" sz="1400" dirty="0"/>
          </a:p>
        </p:txBody>
      </p:sp>
      <p:pic>
        <p:nvPicPr>
          <p:cNvPr id="9" name="Image 1" descr="img2/post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645920"/>
            <a:ext cx="1691640" cy="28803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492240" y="1645920"/>
            <a:ext cx="21945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2026/3/14 發文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2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愛心 319 ・ 留言 188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說因為有 AI,現在的畢業生很辛苦</a:t>
            </a:r>
            <a:endParaRPr lang="en-US" sz="1300" dirty="0"/>
          </a:p>
          <a:p>
            <a:pPr marL="190500" indent="-1905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最高讚(620 讚):有 AI 學得更快,不用 AI 才會被淘汰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成效:新鮮人第一份薪水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1 留言裡,第一份工作的月薪(42 則)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508760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29K 以下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691640" y="1554480"/>
            <a:ext cx="905256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688336" y="1508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2075688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30–34K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1691640" y="2121408"/>
            <a:ext cx="3319272" cy="3200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02352" y="207568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642616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35–39K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691640" y="2688336"/>
            <a:ext cx="2414016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197096" y="2642616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09544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40–49K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691640" y="3255264"/>
            <a:ext cx="301752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00600" y="3209544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776472"/>
            <a:ext cx="1188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50K 以上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691640" y="3822192"/>
            <a:ext cx="3017520" cy="320040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00600" y="3776472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760720" y="1005840"/>
            <a:ext cx="2926080" cy="2148840"/>
          </a:xfrm>
          <a:prstGeom prst="rect">
            <a:avLst>
              <a:gd name="adj" fmla="val 3404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大概的樣子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943600" y="1536192"/>
            <a:ext cx="2560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中間值約 38K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最低 26K、最高 81K</a:t>
            </a:r>
            <a:endParaRPr lang="en-US" sz="14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最多人落在 30–34K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760720" y="3291840"/>
            <a:ext cx="2926080" cy="1554480"/>
          </a:xfrm>
          <a:prstGeom prst="rect">
            <a:avLst>
              <a:gd name="adj" fmla="val 4706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0" y="3401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發問的人說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3822192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 上很多低於 35K,但版上很多人 40K 以上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43484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怎麼算的:看得到的留言中,有 42 則寫出第一份月薪(範圍取中間值,只寫年薪的不算)。留言的人可能偏向薪水較好的,不代表全部新鮮人。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成效:大家怎麼看 AI 與就業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0058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 2 留言的看法(看得到的 25 則)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46304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每一代都一樣,又在喊苦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017520" y="1527048"/>
            <a:ext cx="2194560" cy="32918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30352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993392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讓學習變方便,要學會用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17520" y="2057400"/>
            <a:ext cx="192024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02920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2523744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要有自己的實力,不能只靠 AI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017520" y="2587752"/>
            <a:ext cx="109728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206240" y="2523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054096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取代不了的工作(產線、輪班)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017520" y="3118104"/>
            <a:ext cx="82296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3054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3584448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擔心 AI 衝擊所有人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017520" y="3648456"/>
            <a:ext cx="54864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5760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114800"/>
            <a:ext cx="2514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大學價值變低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17520" y="4178808"/>
            <a:ext cx="274320" cy="329184"/>
          </a:xfrm>
          <a:prstGeom prst="rect">
            <a:avLst/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383280" y="4114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760720" y="1005840"/>
            <a:ext cx="2926080" cy="3840480"/>
          </a:xfrm>
          <a:prstGeom prst="rect">
            <a:avLst>
              <a:gd name="adj" fmla="val 2500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0" y="1115568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留言摘錄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5943600" y="1536192"/>
            <a:ext cx="256032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「別鬧了 有AI學得更快」(620 讚)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「論文連 code 都 AI 寫」(264 讚)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「每一代都有混得好的,混得差的」(8 讚)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「可以畢業到產線或設備商輪班,AI 和機器人都無法取代」(14 讚)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663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一則留言只算一種看法;這是看得到的 25 則,不是全部 188 則。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成效:跟外部調查比一比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1887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38K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965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Dcard 留言的第一份月薪中間值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663440" y="118872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3.6 萬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663440" y="1965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人力銀行:新鮮人薪資中位數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74320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8803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約 9 成 4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36576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1111:畢業生打算直接就業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743200"/>
            <a:ext cx="4023360" cy="1508760"/>
          </a:xfrm>
          <a:prstGeom prst="rect">
            <a:avLst/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663440" y="2880360"/>
            <a:ext cx="4023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5 成</a:t>
            </a:r>
            <a:endParaRPr lang="en-US" sz="36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36576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1111:新鮮人寧選兼職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5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資料來源:1111 人力銀行 2025 新鮮人調查(工商時報、經理人報導)、人力銀行新鮮人薪資統計(經理人報導)。Dcard 留言的數字偏高一些,但跟人力銀行差不多。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分析與建議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觀察分析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新鮮人起薪落差很大,多落在 30–40K 出頭,看學系和產業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談 AI,有人覺得每一代都有難處(8 則),也有人覺得 AI 讓學習變方便(7 則)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有人提到產線、設備這類現場工作,AI 一時取代不了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51560"/>
            <a:ext cx="402336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1612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對中華汽車的建議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1581912"/>
            <a:ext cx="365760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招募時直接講清楚起薪範圍,新鮮人最想先知道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校園活動聊聊「AI 時代的車廠工作」,讓同學看到現場工作的價值</a:t>
            </a:r>
            <a:endParaRPr lang="en-US" sz="1300" dirty="0"/>
          </a:p>
          <a:p>
            <a:pPr marL="190500" indent="-1905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多辦體驗營、參訪,讓不同科系的同學親眼看看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47472"/>
            <a:ext cx="457200" cy="457200"/>
          </a:xfrm>
          <a:prstGeom prst="ellipse">
            <a:avLst/>
          </a:prstGeom>
          <a:solidFill>
            <a:srgbClr val="1B2A4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47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320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執行心得或意見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8229600" cy="3749040"/>
          </a:xfrm>
          <a:prstGeom prst="rect">
            <a:avLst>
              <a:gd name="adj" fmla="val 1951"/>
            </a:avLst>
          </a:prstGeom>
          <a:solidFill>
            <a:srgbClr val="F3F5F8"/>
          </a:solidFill>
          <a:ln w="12700">
            <a:solidFill>
              <a:srgbClr val="F3F5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161288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任務心得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581912"/>
            <a:ext cx="7863840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【待補:請邱偉浩自己寫幾句,我再幫忙潤飾】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2026-10-22T10:18:54Z</dcterms:created>
  <dcterms:modified xsi:type="dcterms:W3CDTF">2026-10-22T10:18:54Z</dcterms:modified>
</cp:coreProperties>
</file>