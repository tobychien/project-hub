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top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91440" y="-182880"/>
            <a:ext cx="12344400" cy="914400"/>
          </a:xfrm>
          <a:prstGeom prst="rect">
            <a:avLst/>
          </a:prstGeom>
        </p:spPr>
      </p:pic>
      <p:pic>
        <p:nvPicPr>
          <p:cNvPr id="3" name="Image 1" descr="as2/note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737360"/>
            <a:ext cx="7680960" cy="3291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463040" y="26517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中華汽車校園大使</a:t>
            </a:r>
            <a:endParaRPr lang="en-US" sz="5000" dirty="0"/>
          </a:p>
        </p:txBody>
      </p:sp>
      <p:sp>
        <p:nvSpPr>
          <p:cNvPr id="5" name="Text 1"/>
          <p:cNvSpPr txBox="1"/>
          <p:nvPr/>
        </p:nvSpPr>
        <p:spPr>
          <a:xfrm>
            <a:off x="1463040" y="3611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邱偉浩/元智大學</a:t>
            </a:r>
            <a:endParaRPr lang="en-US" sz="2200" dirty="0"/>
          </a:p>
        </p:txBody>
      </p:sp>
      <p:sp>
        <p:nvSpPr>
          <p:cNvPr id="6" name="Text 2"/>
          <p:cNvSpPr txBox="1"/>
          <p:nvPr/>
        </p:nvSpPr>
        <p:spPr>
          <a:xfrm>
            <a:off x="1463040" y="41148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月 B 任務・趨勢觀察</a:t>
            </a:r>
            <a:endParaRPr lang="en-US" sz="1800" dirty="0"/>
          </a:p>
        </p:txBody>
      </p:sp>
      <p:pic>
        <p:nvPicPr>
          <p:cNvPr id="7" name="Image 2" descr="as2/c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931920"/>
            <a:ext cx="3291840" cy="2221992"/>
          </a:xfrm>
          <a:prstGeom prst="rect">
            <a:avLst/>
          </a:prstGeom>
        </p:spPr>
      </p:pic>
      <p:pic>
        <p:nvPicPr>
          <p:cNvPr id="8" name="Image 3" descr="as2/sta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1463040"/>
            <a:ext cx="2926080" cy="3227832"/>
          </a:xfrm>
          <a:prstGeom prst="rect">
            <a:avLst/>
          </a:prstGeom>
        </p:spPr>
      </p:pic>
      <p:pic>
        <p:nvPicPr>
          <p:cNvPr id="9" name="Image 4" descr="as2/lac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309360"/>
            <a:ext cx="12188952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17352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188720"/>
            <a:ext cx="1188720" cy="4389120"/>
          </a:xfrm>
          <a:prstGeom prst="rect">
            <a:avLst/>
          </a:prstGeom>
        </p:spPr>
      </p:pic>
      <p:pic>
        <p:nvPicPr>
          <p:cNvPr id="5" name="Image 3" descr="as2/c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3120" y="914400"/>
            <a:ext cx="7863840" cy="5440680"/>
          </a:xfrm>
          <a:prstGeom prst="rect">
            <a:avLst/>
          </a:prstGeom>
        </p:spPr>
      </p:pic>
      <p:pic>
        <p:nvPicPr>
          <p:cNvPr id="6" name="Image 4" descr="as2/butter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274320"/>
            <a:ext cx="1554480" cy="1828800"/>
          </a:xfrm>
          <a:prstGeom prst="rect">
            <a:avLst/>
          </a:prstGeom>
        </p:spPr>
      </p:pic>
      <p:pic>
        <p:nvPicPr>
          <p:cNvPr id="7" name="Image 5" descr="as2/boa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0" y="777240"/>
            <a:ext cx="2194560" cy="868680"/>
          </a:xfrm>
          <a:prstGeom prst="rect">
            <a:avLst/>
          </a:prstGeom>
        </p:spPr>
      </p:pic>
      <p:pic>
        <p:nvPicPr>
          <p:cNvPr id="8" name="Image 6" descr="as2/dais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18320" y="4754880"/>
            <a:ext cx="1463040" cy="1517904"/>
          </a:xfrm>
          <a:prstGeom prst="rect">
            <a:avLst/>
          </a:prstGeom>
        </p:spPr>
      </p:pic>
      <p:sp>
        <p:nvSpPr>
          <p:cNvPr id="9" name="Text 0"/>
          <p:cNvSpPr txBox="1"/>
          <p:nvPr/>
        </p:nvSpPr>
        <p:spPr>
          <a:xfrm>
            <a:off x="2926080" y="1920240"/>
            <a:ext cx="62179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2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大使姓名/學校:邱偉浩/元智大學</a:t>
            </a:r>
            <a:endParaRPr lang="en-US" sz="2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任務月份:10 月</a:t>
            </a:r>
            <a:endParaRPr lang="en-US" sz="2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主題:畢業生就業趨勢</a:t>
            </a:r>
            <a:endParaRPr lang="en-US" sz="2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任務形式:B.趨勢觀察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17352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utterfl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74320"/>
            <a:ext cx="1463040" cy="171907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554480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內容分享與說明:觀察主題與方法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1554480"/>
            <a:ext cx="95097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【觀察主題】</a:t>
            </a:r>
            <a:endParaRPr lang="en-US" sz="22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畢業生就業趨勢(任務指引範例之一)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【觀察平台】</a:t>
            </a:r>
            <a:endParaRPr lang="en-US" sz="22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Dcard 工作版、科技業版,共 2 篇貼文、454 則留言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【觀察方式】</a:t>
            </a:r>
            <a:endParaRPr lang="en-US" sz="22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挑兩篇貼文:一篇聊新鮮人起薪,一篇聊 AI 對新鮮人的影響</a:t>
            </a:r>
            <a:endParaRPr lang="en-US" sz="22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記下愛心、留言數,把看得到的留言一則一則讀,算算起薪落在哪、大家怎麼看 AI</a:t>
            </a:r>
            <a:endParaRPr lang="en-US" sz="22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再跟人力銀行公開的資料比一比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17352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o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502920"/>
            <a:ext cx="2011680" cy="795528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554480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內容分享與說明:Dcard 案例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822960" y="1417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【案例 1】#請益 新鮮人起薪都多少(工作版)</a:t>
            </a:r>
            <a:endParaRPr lang="en-US" sz="1500" dirty="0"/>
          </a:p>
        </p:txBody>
      </p:sp>
      <p:pic>
        <p:nvPicPr>
          <p:cNvPr id="7" name="Image 3" descr="img2/post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828800"/>
            <a:ext cx="4754880" cy="2798064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822960" y="47091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2025/6/3 發文 ・ 愛心 108 ・ 留言 266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剛畢業的人問:大家第一份工作月薪是多少?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最高讚(268 讚):生活品質和健康比什麼都重要</a:t>
            </a:r>
            <a:endParaRPr lang="en-US" sz="1400" dirty="0"/>
          </a:p>
        </p:txBody>
      </p:sp>
      <p:sp>
        <p:nvSpPr>
          <p:cNvPr id="9" name="Text 3"/>
          <p:cNvSpPr txBox="1"/>
          <p:nvPr/>
        </p:nvSpPr>
        <p:spPr>
          <a:xfrm>
            <a:off x="6309360" y="14173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【案例 2】2026 前後畢業的大學生,是史上最辛苦世代(科技業版)</a:t>
            </a:r>
            <a:endParaRPr lang="en-US" sz="1500" dirty="0"/>
          </a:p>
        </p:txBody>
      </p:sp>
      <p:pic>
        <p:nvPicPr>
          <p:cNvPr id="10" name="Image 4" descr="img2/post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103120"/>
            <a:ext cx="1737360" cy="2962656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8229600" y="210312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2026/3/14 發文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愛心 319 ・ 留言 188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說因為有 AI,現在的畢業生很辛苦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最高讚(620 讚):有 AI 學得更快,不用 AI 才會被淘汰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17352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utterfl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74320"/>
            <a:ext cx="1463040" cy="171907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554480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成效:新鮮人第一份薪水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914400" y="14630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案例 1 留言裡,第一份工作的月薪(42 則)</a:t>
            </a:r>
            <a:endParaRPr lang="en-US" sz="1500" dirty="0"/>
          </a:p>
        </p:txBody>
      </p:sp>
      <p:sp>
        <p:nvSpPr>
          <p:cNvPr id="7" name="Text 2"/>
          <p:cNvSpPr txBox="1"/>
          <p:nvPr/>
        </p:nvSpPr>
        <p:spPr>
          <a:xfrm>
            <a:off x="914400" y="19659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29K 以下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2377440" y="2029968"/>
            <a:ext cx="905256" cy="384048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3392424" y="19659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914400" y="2642616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30–34K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2377440" y="2706624"/>
            <a:ext cx="3319272" cy="384048"/>
          </a:xfrm>
          <a:prstGeom prst="rect">
            <a:avLst/>
          </a:prstGeom>
          <a:solidFill>
            <a:srgbClr val="A4472F"/>
          </a:solidFill>
          <a:ln w="12700">
            <a:solidFill>
              <a:srgbClr val="A4472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5806440" y="264261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914400" y="331927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35–39K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2377440" y="3383280"/>
            <a:ext cx="2414016" cy="384048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901184" y="3319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914400" y="399592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40–49K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2377440" y="4059936"/>
            <a:ext cx="3017520" cy="384048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504688" y="39959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914400" y="467258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50K 以上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2377440" y="4736592"/>
            <a:ext cx="3017520" cy="384048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504688" y="4672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7589520" y="1554480"/>
            <a:ext cx="3931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【大概的樣子】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中間值約 38K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最低 26K、最高 81K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最多人落在 30–34K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【發問的人說】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104 上很多低於 35K,但版上很多人 40K 以上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914400" y="54864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怎麼算的:看得到的留言中,有 42 則寫出第一份月薪(範圍取中間值,只寫年薪的不算)。留言的人可能偏向薪水較好的,不代表全部新鮮人。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17352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o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502920"/>
            <a:ext cx="2011680" cy="795528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554480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成效:大家怎麼看 AI 與就業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914400" y="14630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案例 2 留言的看法(看得到的 30 則)</a:t>
            </a:r>
            <a:endParaRPr lang="en-US" sz="1500" dirty="0"/>
          </a:p>
        </p:txBody>
      </p:sp>
      <p:sp>
        <p:nvSpPr>
          <p:cNvPr id="7" name="Text 2"/>
          <p:cNvSpPr txBox="1"/>
          <p:nvPr/>
        </p:nvSpPr>
        <p:spPr>
          <a:xfrm>
            <a:off x="914400" y="19202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每一代都一樣,又在喊苦</a:t>
            </a:r>
            <a:endParaRPr lang="en-US" sz="1400" dirty="0"/>
          </a:p>
        </p:txBody>
      </p:sp>
      <p:sp>
        <p:nvSpPr>
          <p:cNvPr id="8" name="Shape 3"/>
          <p:cNvSpPr/>
          <p:nvPr/>
        </p:nvSpPr>
        <p:spPr>
          <a:xfrm>
            <a:off x="4297680" y="1984248"/>
            <a:ext cx="2852928" cy="365760"/>
          </a:xfrm>
          <a:prstGeom prst="rect">
            <a:avLst/>
          </a:prstGeom>
          <a:solidFill>
            <a:srgbClr val="A4472F"/>
          </a:solidFill>
          <a:ln w="12700">
            <a:solidFill>
              <a:srgbClr val="A4472F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7260336" y="19202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914400" y="252374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讓學習變方便,要學會用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4297680" y="2587752"/>
            <a:ext cx="1664208" cy="365760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071616" y="252374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914400" y="312724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要有自己的實力,不能只靠 AI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297680" y="3191256"/>
            <a:ext cx="1188720" cy="365760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596128" y="312724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914400" y="37307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取代不了的工作(產線、輪班)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4297680" y="3794760"/>
            <a:ext cx="713232" cy="365760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120640" y="373075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914400" y="433425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擔心 AI 衝擊所有人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297680" y="4398264"/>
            <a:ext cx="475488" cy="365760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882896" y="433425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914400" y="49377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大學價值變低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4297680" y="5001768"/>
            <a:ext cx="237744" cy="365760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645152" y="49377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7863840" y="1554480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【留言摘錄】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「別鬧了 有AI學得更快」(620 讚)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「論文連 code 都 AI 寫」(264 讚)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「每一代都有混得好的,混得差的」(8 讚)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「可以畢業到產線或設備商輪班,AI 和機器人都無法取代」(14 讚)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914400" y="56692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一則留言只算一種看法;這是看得到的 30 則(回覆別人的 3 則沒算),不是全部 188 則。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17352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utterfl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74320"/>
            <a:ext cx="1463040" cy="171907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554480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成效:跟外部調查比一比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1280160" y="16459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A4472F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約 38K</a:t>
            </a:r>
            <a:endParaRPr lang="en-US" sz="4600" dirty="0"/>
          </a:p>
        </p:txBody>
      </p:sp>
      <p:sp>
        <p:nvSpPr>
          <p:cNvPr id="7" name="Text 2"/>
          <p:cNvSpPr txBox="1"/>
          <p:nvPr/>
        </p:nvSpPr>
        <p:spPr>
          <a:xfrm>
            <a:off x="128016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Dcard 留言的第一份月薪中間值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6400800" y="16459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8B6B3E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約 3.6 萬</a:t>
            </a:r>
            <a:endParaRPr lang="en-US" sz="4600" dirty="0"/>
          </a:p>
        </p:txBody>
      </p:sp>
      <p:sp>
        <p:nvSpPr>
          <p:cNvPr id="9" name="Text 4"/>
          <p:cNvSpPr txBox="1"/>
          <p:nvPr/>
        </p:nvSpPr>
        <p:spPr>
          <a:xfrm>
            <a:off x="640080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人力銀行:新鮮人薪資中位數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1280160" y="36576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8B6B3E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約 9 成 4</a:t>
            </a:r>
            <a:endParaRPr lang="en-US" sz="460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4709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1111:畢業生打算直接就業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400800" y="36576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8B6B3E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近 5 成</a:t>
            </a:r>
            <a:endParaRPr lang="en-US" sz="4600" dirty="0"/>
          </a:p>
        </p:txBody>
      </p:sp>
      <p:sp>
        <p:nvSpPr>
          <p:cNvPr id="13" name="Text 8"/>
          <p:cNvSpPr txBox="1"/>
          <p:nvPr/>
        </p:nvSpPr>
        <p:spPr>
          <a:xfrm>
            <a:off x="6400800" y="4709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1111:新鮮人寧選兼職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5577840"/>
            <a:ext cx="8961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資料來源:1111 人力銀行 2025 新鮮人調查(工商時報、經理人報導)、人力銀行新鮮人薪資統計(經理人報導)。Dcard 留言的數字偏高一些,但跟人力銀行差不多。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17352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o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502920"/>
            <a:ext cx="2011680" cy="795528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554480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分析與建議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914400" y="155448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【觀察分析】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新鮮人起薪落差很大,多落在 30–40K 出頭,看學系和產業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談 AI,有人覺得每一代都有難處(12 則),也有人覺得 AI 讓學習變方便(7 則)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有人提到產線、設備這類現場工作,AI 一時取代不了</a:t>
            </a:r>
            <a:endParaRPr lang="en-US" sz="2000" dirty="0"/>
          </a:p>
        </p:txBody>
      </p:sp>
      <p:sp>
        <p:nvSpPr>
          <p:cNvPr id="7" name="Text 2"/>
          <p:cNvSpPr txBox="1"/>
          <p:nvPr/>
        </p:nvSpPr>
        <p:spPr>
          <a:xfrm>
            <a:off x="6217920" y="155448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【對中華汽車的建議】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招募時直接講清楚起薪範圍,新鮮人最想先知道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校園活動聊聊「AI 時代的車廠工作」,讓同學看到現場工作的價值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多辦體驗營、參訪,讓不同科系的同學親眼看看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17352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dais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74320"/>
            <a:ext cx="1371600" cy="1426464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554480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執行心得或意見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1737360"/>
            <a:ext cx="9509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【執行心得】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A447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(請邱偉浩自己寫幾句,我再幫忙潤飾)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邱偉浩-元智大學-10月B</dc:title>
  <dc:subject>PptxGenJS Presentation</dc:subject>
  <dc:creator>PptxGenJS</dc:creator>
  <cp:lastModifiedBy>PptxGenJS</cp:lastModifiedBy>
  <cp:revision>1</cp:revision>
  <dcterms:created xsi:type="dcterms:W3CDTF">2026-10-22T10:27:13Z</dcterms:created>
  <dcterms:modified xsi:type="dcterms:W3CDTF">2026-10-22T10:27:13Z</dcterms:modified>
</cp:coreProperties>
</file>