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top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22960"/>
          </a:xfrm>
          <a:prstGeom prst="rect">
            <a:avLst/>
          </a:prstGeom>
        </p:spPr>
      </p:pic>
      <p:pic>
        <p:nvPicPr>
          <p:cNvPr id="3" name="Image 1" descr="as2/note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8" y="1737360"/>
            <a:ext cx="7680960" cy="3291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255368" y="2606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中華汽車校園大使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2255368" y="3566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邱偉浩/元智大學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2255368" y="40690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月 B 任務・趨勢觀察</a:t>
            </a:r>
            <a:endParaRPr lang="en-US" sz="1800" dirty="0"/>
          </a:p>
        </p:txBody>
      </p:sp>
      <p:pic>
        <p:nvPicPr>
          <p:cNvPr id="7" name="Image 2" descr="as2/c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23360"/>
            <a:ext cx="3108960" cy="2093976"/>
          </a:xfrm>
          <a:prstGeom prst="rect">
            <a:avLst/>
          </a:prstGeom>
        </p:spPr>
      </p:pic>
      <p:pic>
        <p:nvPicPr>
          <p:cNvPr id="8" name="Image 3" descr="as2/sta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554480"/>
            <a:ext cx="2651760" cy="2926080"/>
          </a:xfrm>
          <a:prstGeom prst="rect">
            <a:avLst/>
          </a:prstGeom>
        </p:spPr>
      </p:pic>
      <p:pic>
        <p:nvPicPr>
          <p:cNvPr id="9" name="Image 4" descr="as2/la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09360"/>
            <a:ext cx="12191695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1097280" cy="4069080"/>
          </a:xfrm>
          <a:prstGeom prst="rect">
            <a:avLst/>
          </a:prstGeom>
        </p:spPr>
      </p:pic>
      <p:pic>
        <p:nvPicPr>
          <p:cNvPr id="5" name="Image 3" descr="as2/c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3928" y="914400"/>
            <a:ext cx="7863840" cy="5440680"/>
          </a:xfrm>
          <a:prstGeom prst="rect">
            <a:avLst/>
          </a:prstGeom>
        </p:spPr>
      </p:pic>
      <p:pic>
        <p:nvPicPr>
          <p:cNvPr id="6" name="Image 4" descr="as2/butter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74320"/>
            <a:ext cx="1554480" cy="1828800"/>
          </a:xfrm>
          <a:prstGeom prst="rect">
            <a:avLst/>
          </a:prstGeom>
        </p:spPr>
      </p:pic>
      <p:pic>
        <p:nvPicPr>
          <p:cNvPr id="7" name="Image 5" descr="as2/bo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9608" y="777240"/>
            <a:ext cx="2103120" cy="832104"/>
          </a:xfrm>
          <a:prstGeom prst="rect">
            <a:avLst/>
          </a:prstGeom>
        </p:spPr>
      </p:pic>
      <p:pic>
        <p:nvPicPr>
          <p:cNvPr id="8" name="Image 6" descr="as2/dais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0" y="4754880"/>
            <a:ext cx="1371600" cy="1426464"/>
          </a:xfrm>
          <a:prstGeom prst="rect">
            <a:avLst/>
          </a:prstGeom>
        </p:spPr>
      </p:pic>
      <p:sp>
        <p:nvSpPr>
          <p:cNvPr id="9" name="Text 0"/>
          <p:cNvSpPr txBox="1"/>
          <p:nvPr/>
        </p:nvSpPr>
        <p:spPr>
          <a:xfrm>
            <a:off x="2895448" y="914400"/>
            <a:ext cx="6400800" cy="5440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大使姓名/學校:邱偉浩/元智大學</a:t>
            </a:r>
            <a:endParaRPr lang="en-US" sz="2800" dirty="0"/>
          </a:p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任務月份:10 月</a:t>
            </a:r>
            <a:endParaRPr lang="en-US" sz="2800" dirty="0"/>
          </a:p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主題:畢業生就業趨勢</a:t>
            </a:r>
            <a:endParaRPr lang="en-US" sz="2800" dirty="0"/>
          </a:p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任務形式:B.趨勢觀察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內容分享與說明:觀察主題與方法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1508760"/>
            <a:ext cx="91440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【觀察主題】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畢業生就業趨勢(任務指引範例之一)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【觀察平台】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Dcard 工作版、科技業版,共 2 篇貼文、454 則留言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【觀察方式】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挑兩篇貼文:一篇聊新鮮人起薪,一篇聊 AI 對新鮮人的影響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記下愛心、留言數,把看得到的留言一則一則讀,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算算起薪落在哪、大家怎麼看 AI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再跟人力銀行公開的資料比一比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1920240" cy="75895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內容分享與說明:Dcard 案例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746608" y="1371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【案例 1】#請益 新鮮人起薪都多少(工作版)</a:t>
            </a:r>
            <a:endParaRPr lang="en-US" sz="1500" dirty="0"/>
          </a:p>
        </p:txBody>
      </p:sp>
      <p:pic>
        <p:nvPicPr>
          <p:cNvPr id="7" name="Image 3" descr="img2/post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08" y="1965960"/>
            <a:ext cx="4572000" cy="2688336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746608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2025/6/3 發文 ・ 愛心 108 ・ 留言 266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剛畢業的人問:大家第一份工作月薪是多少?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最高讚(268 讚):生活品質和健康比什麼都重要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6415888" y="1371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【案例 2】2026 前後畢業的大學生,是史上最辛苦世代(科技業版)</a:t>
            </a:r>
            <a:endParaRPr lang="en-US" sz="1500" dirty="0"/>
          </a:p>
        </p:txBody>
      </p:sp>
      <p:pic>
        <p:nvPicPr>
          <p:cNvPr id="10" name="Image 4" descr="img2/post2_t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488" y="1965960"/>
            <a:ext cx="4572000" cy="2706624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415888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2026/3/14 發文 ・ 愛心 319 ・ 留言 188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說因為有 AI,現在的畢業生很辛苦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最高讚(620 讚):有 AI 學得更快,不用 AI 才會被淘汰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成效:新鮮人第一份薪水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1 留言裡,第一份工作的月薪(42 則)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3142336" y="18288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29K 以下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788256" y="1883664"/>
            <a:ext cx="987552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867248" y="182880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5"/>
          <p:cNvSpPr txBox="1"/>
          <p:nvPr/>
        </p:nvSpPr>
        <p:spPr>
          <a:xfrm>
            <a:off x="3142336" y="239572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30–34K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788256" y="2450592"/>
            <a:ext cx="3621024" cy="365760"/>
          </a:xfrm>
          <a:prstGeom prst="rect">
            <a:avLst/>
          </a:prstGeom>
          <a:solidFill>
            <a:srgbClr val="A4472F"/>
          </a:solidFill>
          <a:ln w="12700">
            <a:solidFill>
              <a:srgbClr val="A4472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500720" y="239572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3142336" y="296265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35–39K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788256" y="3017520"/>
            <a:ext cx="2633472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513168" y="296265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142336" y="352958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40–49K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788256" y="3584448"/>
            <a:ext cx="3291840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71536" y="3529584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142336" y="40965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50K 以上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4788256" y="4151376"/>
            <a:ext cx="3291840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171536" y="409651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4754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A4472F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中間值約 38K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343400" y="4754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最低 26K・最高 81K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4754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最多人落在 30–34K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706728" y="544068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怎麼算的:看得到的留言中,有 42 則寫出第一份月薪(範圍取中間值,只寫年薪的不算)。留言的人可能偏向薪水較好的,不代表全部新鮮人。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1920240" cy="75895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成效:大家怎麼看 AI 與就業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2 留言的看法(看得到的 30 則)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2657704" y="182880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每一代都一樣,又在喊苦</a:t>
            </a:r>
            <a:endParaRPr lang="en-US" sz="1400" dirty="0"/>
          </a:p>
        </p:txBody>
      </p:sp>
      <p:sp>
        <p:nvSpPr>
          <p:cNvPr id="8" name="Shape 3"/>
          <p:cNvSpPr/>
          <p:nvPr/>
        </p:nvSpPr>
        <p:spPr>
          <a:xfrm>
            <a:off x="6040984" y="1883664"/>
            <a:ext cx="2852928" cy="283464"/>
          </a:xfrm>
          <a:prstGeom prst="rect">
            <a:avLst/>
          </a:prstGeom>
          <a:solidFill>
            <a:srgbClr val="A4472F"/>
          </a:solidFill>
          <a:ln w="12700">
            <a:solidFill>
              <a:srgbClr val="A4472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8985352" y="182880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2657704" y="231343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讓學習變方便,要學會用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040984" y="2368296"/>
            <a:ext cx="1664208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96632" y="231343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2657704" y="2798064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要有自己的實力,不能只靠 AI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040984" y="2852928"/>
            <a:ext cx="1188720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21144" y="279806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7704" y="3282696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取代不了的工作(產線、輪班)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040984" y="3337560"/>
            <a:ext cx="713232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45656" y="32826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2657704" y="3767328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擔心 AI 衝擊所有人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040984" y="3822192"/>
            <a:ext cx="475488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607912" y="37673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2657704" y="425196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大學價值變低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040984" y="4306824"/>
            <a:ext cx="237744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370168" y="425196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1523848" y="48463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「別鬧了 有AI學得更快」(620 讚)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「可以畢業到產線或設備商輪班,AI 和機器人都無法取代」(14 讚)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1706728" y="580644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一則留言只算一種看法;這是看得到的 30 則(回覆別人的 3 則沒算),不是全部 188 則。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成效:跟外部調查比一比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249528" y="16002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A4472F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38K</a:t>
            </a:r>
            <a:endParaRPr lang="en-US" sz="4600" dirty="0"/>
          </a:p>
        </p:txBody>
      </p:sp>
      <p:sp>
        <p:nvSpPr>
          <p:cNvPr id="7" name="Text 2"/>
          <p:cNvSpPr txBox="1"/>
          <p:nvPr/>
        </p:nvSpPr>
        <p:spPr>
          <a:xfrm>
            <a:off x="1249528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Dcard 留言的第一份月薪中間值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6370168" y="16002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3.6 萬</a:t>
            </a:r>
            <a:endParaRPr lang="en-US" sz="4600" dirty="0"/>
          </a:p>
        </p:txBody>
      </p:sp>
      <p:sp>
        <p:nvSpPr>
          <p:cNvPr id="9" name="Text 4"/>
          <p:cNvSpPr txBox="1"/>
          <p:nvPr/>
        </p:nvSpPr>
        <p:spPr>
          <a:xfrm>
            <a:off x="6370168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人力銀行:新鮮人薪資中位數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1249528" y="3611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9 成 4</a:t>
            </a:r>
            <a:endParaRPr lang="en-US" sz="4600" dirty="0"/>
          </a:p>
        </p:txBody>
      </p:sp>
      <p:sp>
        <p:nvSpPr>
          <p:cNvPr id="11" name="Text 6"/>
          <p:cNvSpPr txBox="1"/>
          <p:nvPr/>
        </p:nvSpPr>
        <p:spPr>
          <a:xfrm>
            <a:off x="124952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1111:畢業生打算直接就業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370168" y="3611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近 5 成</a:t>
            </a:r>
            <a:endParaRPr lang="en-US" sz="4600" dirty="0"/>
          </a:p>
        </p:txBody>
      </p:sp>
      <p:sp>
        <p:nvSpPr>
          <p:cNvPr id="13" name="Text 8"/>
          <p:cNvSpPr txBox="1"/>
          <p:nvPr/>
        </p:nvSpPr>
        <p:spPr>
          <a:xfrm>
            <a:off x="637016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1111:新鮮人寧選兼職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615288" y="557784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資料來源:1111 人力銀行 2025 新鮮人調查(工商時報、經理人報導)、人力銀行新鮮人薪資統計(經理人報導)。Dcard 留言的數字偏高一些,但跟人力銀行差不多。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1920240" cy="75895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分析與建議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609448" y="155448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【觀察分析】</a:t>
            </a:r>
            <a:endParaRPr lang="en-US" sz="1900" dirty="0"/>
          </a:p>
          <a:p>
            <a:pPr algn="ctr"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新鮮人起薪落差很大,多落在 30–40K 出頭,看學系和產業</a:t>
            </a:r>
            <a:endParaRPr lang="en-US" sz="1900" dirty="0"/>
          </a:p>
          <a:p>
            <a:pPr algn="ctr"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談 AI,有人覺得每一代都有難處(12 則),也有人覺得 AI 讓學習變方便(7 則)</a:t>
            </a:r>
            <a:endParaRPr lang="en-US" sz="1900" dirty="0"/>
          </a:p>
          <a:p>
            <a:pPr algn="ctr"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有人提到產線、設備這類現場工作,AI 一時取代不了</a:t>
            </a:r>
            <a:endParaRPr lang="en-US" sz="1900" dirty="0"/>
          </a:p>
        </p:txBody>
      </p:sp>
      <p:sp>
        <p:nvSpPr>
          <p:cNvPr id="7" name="Text 2"/>
          <p:cNvSpPr txBox="1"/>
          <p:nvPr/>
        </p:nvSpPr>
        <p:spPr>
          <a:xfrm>
            <a:off x="6553048" y="1554480"/>
            <a:ext cx="5029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【對中華汽車的建議】</a:t>
            </a:r>
            <a:endParaRPr lang="en-US" sz="1900" dirty="0"/>
          </a:p>
          <a:p>
            <a:pPr algn="ctr"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招募時直接講清楚起薪範圍,新鮮人最想先知道</a:t>
            </a:r>
            <a:endParaRPr lang="en-US" sz="1900" dirty="0"/>
          </a:p>
          <a:p>
            <a:pPr algn="ctr"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校園活動聊聊「AI 時代的車廠工作」,讓同學看到現場工作的價值</a:t>
            </a:r>
            <a:endParaRPr lang="en-US" sz="1900" dirty="0"/>
          </a:p>
          <a:p>
            <a:pPr algn="ctr" indent="0" marL="0">
              <a:spcAft>
                <a:spcPts val="1200"/>
              </a:spcAft>
              <a:buNone/>
            </a:pPr>
            <a:r>
              <a:rPr lang="en-US" sz="19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多辦體驗營、參訪,讓不同科系的同學親眼看看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dais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371600" cy="1426464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執行心得或意見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1554480"/>
            <a:ext cx="91440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1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【執行心得】</a:t>
            </a:r>
            <a:endParaRPr lang="en-US" sz="21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1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因為自己快畢業了,很在意畢業後的出路,也很在意現在 AI 發展得這麼快。</a:t>
            </a:r>
            <a:endParaRPr lang="en-US" sz="21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1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做這次觀察時,我一直在想:自己會不會在 AI 這方面落後別人?AI 在企業裡又有哪些地方派得上用場?會不會就此落後?</a:t>
            </a:r>
            <a:endParaRPr lang="en-US" sz="21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1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我也很好奇,2026 年畢業的學生心裡到底在想什麼。看了 Dcard 留言才發現,有人覺得每一代都有難處,也有人覺得 AI 讓學習變方便,想法很不一樣。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邱偉浩-元智大學-10月B</dc:title>
  <dc:subject>PptxGenJS Presentation</dc:subject>
  <dc:creator>PptxGenJS</dc:creator>
  <cp:lastModifiedBy>PptxGenJS</cp:lastModifiedBy>
  <cp:revision>1</cp:revision>
  <dcterms:created xsi:type="dcterms:W3CDTF">2026-10-22T10:36:15Z</dcterms:created>
  <dcterms:modified xsi:type="dcterms:W3CDTF">2026-10-22T10:36:15Z</dcterms:modified>
</cp:coreProperties>
</file>